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476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Universidad Alfonso X el Sabio · Bases de Datos e IA ·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8D"/>
                </a:solidFill>
              </a:rP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</a:rPr>
              <a:t>Predicción de Diagnóstico de Cáncer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5F8A"/>
                </a:solidFill>
              </a:rPr>
              <a:t>Comparativa ML clásico vs Red Neuronal Multicapa · UAX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651760" cy="868680"/>
          </a:xfrm>
          <a:prstGeom prst="rect">
            <a:avLst/>
          </a:prstGeom>
          <a:solidFill>
            <a:srgbClr val="F4F6F9"/>
          </a:solidFill>
          <a:ln w="1524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50800" cy="868680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887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8D"/>
                </a:solidFill>
              </a:rPr>
              <a:t>PACIENTES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344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A5C"/>
                </a:solidFill>
              </a:rPr>
              <a:t>50 001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6459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</a:rPr>
              <a:t>Dataset sintético oncológico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143000"/>
            <a:ext cx="2651760" cy="868680"/>
          </a:xfrm>
          <a:prstGeom prst="rect">
            <a:avLst/>
          </a:prstGeom>
          <a:solidFill>
            <a:srgbClr val="F4F6F9"/>
          </a:solidFill>
          <a:ln w="1524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143000"/>
            <a:ext cx="50800" cy="868680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1887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8D"/>
                </a:solidFill>
              </a:rPr>
              <a:t>COLECCIONES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1344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A5C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16459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</a:rPr>
              <a:t>Bioquímica · Clínica · Genética · Económica · Hábitos · Sociodem.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1143000"/>
            <a:ext cx="2651760" cy="868680"/>
          </a:xfrm>
          <a:prstGeom prst="rect">
            <a:avLst/>
          </a:prstGeom>
          <a:solidFill>
            <a:srgbClr val="F4F6F9"/>
          </a:solidFill>
          <a:ln w="1524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1143000"/>
            <a:ext cx="50800" cy="868680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11887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8D"/>
                </a:solidFill>
              </a:rPr>
              <a:t>PREVALENCIA CÁNCER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1344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5C4B"/>
                </a:solidFill>
              </a:rPr>
              <a:t>≈ 19 %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16459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</a:rPr>
              <a:t>Desbalance 4.3 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1143000"/>
            <a:ext cx="2651760" cy="868680"/>
          </a:xfrm>
          <a:prstGeom prst="rect">
            <a:avLst/>
          </a:prstGeom>
          <a:solidFill>
            <a:srgbClr val="F4F6F9"/>
          </a:solidFill>
          <a:ln w="1524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1143000"/>
            <a:ext cx="50800" cy="868680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11887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8D"/>
                </a:solidFill>
              </a:rPr>
              <a:t>VARIABLES ACTIVAS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1344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A5C"/>
                </a:solidFill>
              </a:rPr>
              <a:t>29 / 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16459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8D"/>
                </a:solidFill>
              </a:rPr>
              <a:t>7 excluidas por data leakage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21408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212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F8A"/>
                </a:solidFill>
              </a:rPr>
              <a:t>PIPELINE DEL PROYECTO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2514600"/>
            <a:ext cx="1691640" cy="713232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25511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6 CSVs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278892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C5F8A"/>
                </a:solidFill>
              </a:rPr>
              <a:t>Datos crudos
6 colecciones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7128" y="2743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5F8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8296" y="2514600"/>
            <a:ext cx="1691640" cy="713232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14016" y="25511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Merge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4016" y="278892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C5F8A"/>
                </a:solidFill>
              </a:rPr>
              <a:t>JOIN por
paciente_id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2743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5F8A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8536" y="2514600"/>
            <a:ext cx="1691640" cy="713232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6" y="25511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EDA &amp;
Leakage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278892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C5F8A"/>
                </a:solidFill>
              </a:rPr>
              <a:t>Audit de
variables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7608" y="2743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5F8A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8776" y="2514600"/>
            <a:ext cx="1691640" cy="713232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54496" y="25511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Pipeline
sklearn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278892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C5F8A"/>
                </a:solidFill>
              </a:rPr>
              <a:t>fit solo en
train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2743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5F8A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9016" y="2514600"/>
            <a:ext cx="1691640" cy="713232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4736" y="25511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ML / MLP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74736" y="278892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C5F8A"/>
                </a:solidFill>
              </a:rPr>
              <a:t>5 modelos
clásicos + MLP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48088" y="2743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5F8A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49256" y="2514600"/>
            <a:ext cx="1691640" cy="713232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94976" y="25511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Test
Eval.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94976" y="278892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C5F8A"/>
                </a:solidFill>
              </a:rPr>
              <a:t>Una sola vez
por modelo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346704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3429000"/>
            <a:ext cx="5303520" cy="685800"/>
          </a:xfrm>
          <a:prstGeom prst="rect">
            <a:avLst/>
          </a:prstGeom>
          <a:solidFill>
            <a:srgbClr val="E8F0F8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3429000"/>
            <a:ext cx="50800" cy="685800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Protocolo Anti-Data-Leakage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5F8A"/>
                </a:solidFill>
              </a:rPr>
              <a:t>Pipeline fit solo en train · Umbral optimizado en val · Test evaluado 1 sola vez por modelo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3429000"/>
            <a:ext cx="6080760" cy="685800"/>
          </a:xfrm>
          <a:prstGeom prst="rect">
            <a:avLst/>
          </a:prstGeom>
          <a:solidFill>
            <a:srgbClr val="FDEDEB"/>
          </a:solidFill>
          <a:ln w="9525">
            <a:solidFill>
              <a:srgbClr val="E05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06440" y="3429000"/>
            <a:ext cx="50800" cy="685800"/>
          </a:xfrm>
          <a:prstGeom prst="rect">
            <a:avLst/>
          </a:prstGeom>
          <a:solidFill>
            <a:srgbClr val="E05C4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34747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1A10"/>
                </a:solidFill>
              </a:rPr>
              <a:t>Variables Excluidas (leakage)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3703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05C4B"/>
                </a:solidFill>
              </a:rPr>
              <a:t>coste_total · coste_farmaco · num_ingresos · dias_hospital · vive · alcohol · tipo_seguro</a:t>
            </a:r>
          </a:p>
        </p:txBody>
      </p:sp>
      <p:pic>
        <p:nvPicPr>
          <p:cNvPr id="63" name="Picture 62" descr="fig_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251960"/>
            <a:ext cx="5303520" cy="219456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20040" y="644652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Distribución de la variable objetivo</a:t>
            </a:r>
          </a:p>
        </p:txBody>
      </p:sp>
      <p:pic>
        <p:nvPicPr>
          <p:cNvPr id="65" name="Picture 64" descr="fig_08_leakag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251960"/>
            <a:ext cx="6080760" cy="219456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06440" y="6446520"/>
            <a:ext cx="6080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Variables con riesgo de data leakage — auditadas y excluidas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476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Universidad Alfonso X el Sabio · Bases de Datos e IA ·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8D"/>
                </a:solidFill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</a:rPr>
              <a:t>Modelos ML Clásicos: Rendimiento en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5F8A"/>
                </a:solidFill>
              </a:rPr>
              <a:t>Umbral de decisión optimizado en validación · Test evaluado una única vez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43000"/>
          <a:ext cx="758951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785"/>
                <a:gridCol w="903514"/>
                <a:gridCol w="903514"/>
                <a:gridCol w="903514"/>
                <a:gridCol w="903514"/>
                <a:gridCol w="903514"/>
                <a:gridCol w="813162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AUC-PR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Umbral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3A5C"/>
                          </a:solidFill>
                        </a:rPr>
                        <a:t>Logistic Regression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0.255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0.958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0.403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0.827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0.577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0.19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CatBoost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0.247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0.967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0.393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0.833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0.591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0.22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LightGBM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0.242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Random Forest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0.241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0.973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0.386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0.822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0.555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0.19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XGBoost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0.207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0.991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3375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8D"/>
                </a:solidFill>
              </a:rPr>
              <a:t>★  Accuracy no es criterio principal: con prevalencia ≈ 19 %, un clasificador trivial alcanza ~81 % sin detectar ningún cáncer.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14300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F8A"/>
                </a:solidFill>
              </a:rPr>
              <a:t>MEJOR MODELO 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3794760" cy="1828800"/>
          </a:xfrm>
          <a:prstGeom prst="rect">
            <a:avLst/>
          </a:prstGeom>
          <a:solidFill>
            <a:srgbClr val="F4F6F9"/>
          </a:solidFill>
          <a:ln w="127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813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A5C"/>
                </a:solidFill>
              </a:rPr>
              <a:t>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01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Recall:  0.958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67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F1:  0.403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33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AUC-ROC:  0.827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99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Umbral:  0.19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_13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840480"/>
            <a:ext cx="5669280" cy="2697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0040" y="653796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Curvas ROC — 5 modelos ML (test set)</a:t>
            </a:r>
          </a:p>
        </p:txBody>
      </p:sp>
      <p:pic>
        <p:nvPicPr>
          <p:cNvPr id="21" name="Picture 20" descr="fig_15_confusion_matrix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40480"/>
            <a:ext cx="5715000" cy="2697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65379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Matriz de confusión — mejor modelo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476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Universidad Alfonso X el Sabio · Bases de Datos e IA ·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8D"/>
                </a:solidFill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</a:rPr>
              <a:t>Red Neuronal MLP: Arquitectura y Validación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5F8A"/>
                </a:solidFill>
              </a:rPr>
              <a:t>Dense 256→128→64 + BatchNorm + Dropout · Mismo protocolo anti-leakage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F8A"/>
                </a:solidFill>
              </a:rPr>
              <a:t>ARQUITECTURA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749039" cy="475488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53896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55064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A8D"/>
                </a:solidFill>
              </a:rPr>
              <a:t>N features procesadas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874520"/>
            <a:ext cx="3657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5F8A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65960"/>
            <a:ext cx="3749039" cy="475488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02536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Dense(256, relu)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03704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A8D"/>
                </a:solidFill>
              </a:rPr>
              <a:t>BatchNorm · Dropout 0.25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423160"/>
            <a:ext cx="3657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5F8A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14600"/>
            <a:ext cx="3749039" cy="475488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51176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Dense(128, relu)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52344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A8D"/>
                </a:solidFill>
              </a:rPr>
              <a:t>BatchNorm · Dropout 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971800"/>
            <a:ext cx="3657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5F8A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63240"/>
            <a:ext cx="3749039" cy="475488"/>
          </a:xfrm>
          <a:prstGeom prst="rect">
            <a:avLst/>
          </a:prstGeom>
          <a:solidFill>
            <a:srgbClr val="D6E4F0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99816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Dense(64,  relu)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00984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A8D"/>
                </a:solidFill>
              </a:rPr>
              <a:t>BatchNorm · Dropout 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520440"/>
            <a:ext cx="3657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5F8A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611880"/>
            <a:ext cx="3749039" cy="475488"/>
          </a:xfrm>
          <a:prstGeom prst="rect">
            <a:avLst/>
          </a:prstGeom>
          <a:solidFill>
            <a:srgbClr val="E8F5E9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48456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3A047"/>
                </a:solidFill>
              </a:rPr>
              <a:t>Dense(1, sigmoid)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9624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A8D"/>
                </a:solidFill>
              </a:rPr>
              <a:t>P(cáncer = 1)  ∈ [0, 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343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F8A"/>
                </a:solidFill>
              </a:rPr>
              <a:t>REGULARIZACIÓN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59943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·  BatchNorm — estabiliza gradientes entre capas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1888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·  Dropout — previene sobreajuste (75–80 % activaciones)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03834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·  EarlyStopping (paciencia 12) — restaura mejor peso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2578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·  ReduceLROnPlateau — lr × 0.5 si val_loss estanca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7725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·  class_weight balanced — compensa desbalance 4.3:1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6967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·  Adam lr=0.001 · batch=256 · máx 150 épocas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1115568"/>
            <a:ext cx="7296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F8A"/>
                </a:solidFill>
              </a:rPr>
              <a:t>MLP vs MEJOR MODELO ML — TEST SET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572000" y="1417320"/>
          <a:ext cx="729691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942"/>
                <a:gridCol w="1199492"/>
                <a:gridCol w="1199492"/>
                <a:gridCol w="1199492"/>
                <a:gridCol w="1199492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Recall ↑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F1 ↑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AUC-PR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MLP (Red Neuronal)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0.956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0.397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0.577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Mejor ML (clásico)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0.958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0.403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0.577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4572000" y="2514600"/>
            <a:ext cx="7296912" cy="594360"/>
          </a:xfrm>
          <a:prstGeom prst="rect">
            <a:avLst/>
          </a:prstGeom>
          <a:solidFill>
            <a:srgbClr val="E8F0F8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2578608"/>
            <a:ext cx="7022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Conclusión: La MLP alcanza rendimiento comparable al mejor modelo clásico con mayor complejidad operacional y menor interpretabilidad. En contexto hospitalario, el modelo clásico es preferible salvo que la MLP supere claramente en Recall.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218688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ig_17_ml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37560"/>
            <a:ext cx="3520440" cy="32461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72000" y="658368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Arquitectura MLP — diagrama de capas</a:t>
            </a:r>
          </a:p>
        </p:txBody>
      </p:sp>
      <p:pic>
        <p:nvPicPr>
          <p:cNvPr id="43" name="Picture 42" descr="fig_18_mlp_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337560"/>
            <a:ext cx="3547872" cy="32461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21040" y="6583680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Curvas de aprendizaje — loss y recall por época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476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Universidad Alfonso X el Sabio · Bases de Datos e IA ·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8D"/>
                </a:solidFill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</a:rPr>
              <a:t>Ranking Final: ML vs MLP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5F8A"/>
                </a:solidFill>
              </a:rPr>
              <a:t>Score compuesto = 0.35·Recall + 0.30·F1 + 0.20·AUC-PR + 0.15·AUC-ROC  —  prioridad clínica: minimizar falsos negativos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43000"/>
          <a:ext cx="11548867" cy="2103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050"/>
                <a:gridCol w="2854777"/>
                <a:gridCol w="1038100"/>
                <a:gridCol w="1427388"/>
                <a:gridCol w="1427388"/>
                <a:gridCol w="1427388"/>
                <a:gridCol w="1427388"/>
                <a:gridCol w="1427388"/>
              </a:tblGrid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AUC-PR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36576" marR="36576" marT="18288" marB="18288">
                    <a:solidFill>
                      <a:srgbClr val="2C5F8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3A5C"/>
                          </a:solidFill>
                        </a:rPr>
                        <a:t>🥇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CatBoost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ML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0.967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0.393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0.591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0.833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3A5C"/>
                          </a:solidFill>
                        </a:rPr>
                        <a:t>0.699</a:t>
                      </a:r>
                    </a:p>
                  </a:txBody>
                  <a:tcPr marL="36576" marR="36576" marT="18288" marB="18288">
                    <a:solidFill>
                      <a:srgbClr val="D6E4F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🥈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Logistic Regression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ML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0.958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0.403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0.577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0.696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🥉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LightGBM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ML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0.693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MLP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MLP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0.956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0.397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0.577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0.822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0.692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Random Forest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ML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0.973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0.386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0.555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0.691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3A5C"/>
                          </a:solidFill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XGBoost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ML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0.991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0.343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0.540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0.810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3A5C"/>
                          </a:solidFill>
                        </a:rPr>
                        <a:t>0.679</a:t>
                      </a:r>
                    </a:p>
                  </a:txBody>
                  <a:tcPr marL="36576" marR="36576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3364992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456432"/>
            <a:ext cx="11548872" cy="548640"/>
          </a:xfrm>
          <a:prstGeom prst="rect">
            <a:avLst/>
          </a:prstGeom>
          <a:solidFill>
            <a:srgbClr val="E8F0F8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456432"/>
            <a:ext cx="63500" cy="548640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5295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Criterio de selección: mejor equilibrio Recall · F1 · AUC-PR · AUC-ROC + interpretabilidad clínica. Los boosters (LightGBM / CatBoost) ofrecen SHAP nativo. La MLP requiere XAI externo.</a:t>
            </a:r>
          </a:p>
        </p:txBody>
      </p:sp>
      <p:pic>
        <p:nvPicPr>
          <p:cNvPr id="14" name="Picture 13" descr="fig_final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0"/>
            <a:ext cx="566928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" y="653796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Comparativa global de métricas — todos los modelos</a:t>
            </a:r>
          </a:p>
        </p:txBody>
      </p:sp>
      <p:pic>
        <p:nvPicPr>
          <p:cNvPr id="16" name="Picture 15" descr="fig_final_precision_recall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114800"/>
            <a:ext cx="5715000" cy="2423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72200" y="65379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</a:rPr>
              <a:t>Espacio Precision–Recall — zona clínica deseable: Recall &gt; 0.70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6476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Universidad Alfonso X el Sabio · Bases de Datos e IA ·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8D"/>
                </a:solidFill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A5C"/>
                </a:solidFill>
              </a:rPr>
              <a:t>Viabilidad Clínica y Recomendación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5F8A"/>
                </a:solidFill>
              </a:rPr>
              <a:t>Sistema de soporte al cribado oncológico · No reemplaza el diagnóstico médico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4754880" cy="1417320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E4F0"/>
                </a:solidFill>
              </a:rPr>
              <a:t>MODELO RECOMENDADO PARA PRODUCCIÓN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CatBoost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6E4F0"/>
                </a:solidFill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0.967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02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6E4F0"/>
                </a:solidFill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08483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0.393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9202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6E4F0"/>
                </a:solidFill>
              </a:rPr>
              <a:t>AUC-ROC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08483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0.833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202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6E4F0"/>
                </a:solidFill>
              </a:rPr>
              <a:t>Umbral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08483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0.22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143000"/>
            <a:ext cx="6675120" cy="1417320"/>
          </a:xfrm>
          <a:prstGeom prst="rect">
            <a:avLst/>
          </a:prstGeom>
          <a:solidFill>
            <a:srgbClr val="E8F5E9"/>
          </a:solidFill>
          <a:ln w="1524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1143000"/>
            <a:ext cx="63500" cy="1417320"/>
          </a:xfrm>
          <a:prstGeom prst="rect">
            <a:avLst/>
          </a:prstGeom>
          <a:solidFill>
            <a:srgbClr val="43A04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1207008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5E20"/>
                </a:solidFill>
              </a:rPr>
              <a:t>VEREDICTO EJECUTIVO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1463040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Sistema viable como herramienta de soporte al cribado clínico.
No constituye diagnóstico médico. Requiere validación externa
en cohorte real antes de despliegue clínico.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70048"/>
            <a:ext cx="11548872" cy="12700"/>
          </a:xfrm>
          <a:prstGeom prst="rect">
            <a:avLst/>
          </a:prstGeom>
          <a:solidFill>
            <a:srgbClr val="D6E4F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761488"/>
            <a:ext cx="3520440" cy="3730752"/>
          </a:xfrm>
          <a:prstGeom prst="rect">
            <a:avLst/>
          </a:prstGeom>
          <a:solidFill>
            <a:srgbClr val="FDEDEB"/>
          </a:solidFill>
          <a:ln w="9525">
            <a:solidFill>
              <a:srgbClr val="E05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761488"/>
            <a:ext cx="3520440" cy="292608"/>
          </a:xfrm>
          <a:prstGeom prst="rect">
            <a:avLst/>
          </a:prstGeom>
          <a:solidFill>
            <a:srgbClr val="E05C4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788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LIMITACIONES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1272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1A10"/>
                </a:solidFill>
              </a:rPr>
              <a:t>▸  Datos sintéticos — no generalizable sin
validación en pacientes reales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6758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1A10"/>
                </a:solidFill>
              </a:rPr>
              <a:t>▸  Riesgo de falsos negativos — Recall &lt; 1.0
implica cánceres no detectados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22452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1A10"/>
                </a:solidFill>
              </a:rPr>
              <a:t>▸  Posible sesgo poblacional si la distribución
sintética difiere de la 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7731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1A10"/>
                </a:solidFill>
              </a:rPr>
              <a:t>▸  MLP: caja negra sin XAI externo
(SHAP/LIME no implementado)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2761488"/>
            <a:ext cx="3520440" cy="3730752"/>
          </a:xfrm>
          <a:prstGeom prst="rect">
            <a:avLst/>
          </a:prstGeom>
          <a:solidFill>
            <a:srgbClr val="E8F0F8"/>
          </a:solidFill>
          <a:ln w="9525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69080" y="2761488"/>
            <a:ext cx="3520440" cy="292608"/>
          </a:xfrm>
          <a:prstGeom prst="rect">
            <a:avLst/>
          </a:prstGeom>
          <a:solidFill>
            <a:srgbClr val="2C5F8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2788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MEJORAS FUTURAS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1272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→  SHAP — interpretabilidad por paciente
para el clínico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6758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→  Calibración de probabilidades
(Platt scaling / Isotonic regression)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22452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→  Validación en cohorte real con datos
anonimizados hospitalarios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7731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3A5C"/>
                </a:solidFill>
              </a:rPr>
              <a:t>→  Monitorización de drift — reentrenamiento
periódico en producción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2761488"/>
            <a:ext cx="3520440" cy="3730752"/>
          </a:xfrm>
          <a:prstGeom prst="rect">
            <a:avLst/>
          </a:prstGeom>
          <a:solidFill>
            <a:srgbClr val="E8F5E9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18120" y="2761488"/>
            <a:ext cx="3520440" cy="292608"/>
          </a:xfrm>
          <a:prstGeom prst="rect">
            <a:avLst/>
          </a:prstGeom>
          <a:solidFill>
            <a:srgbClr val="43A04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2788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DEMO INTERACTIVA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312724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streamlit run app.py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45643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5E20"/>
                </a:solidFill>
              </a:rPr>
              <a:t>✓  Simulador de paciente — introduce parámetros
y obtén probabilidad en tiempo real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40050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5E20"/>
                </a:solidFill>
              </a:rPr>
              <a:t>✓  Comparativa de modelos — tabla y
gráficos interactivos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55371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5E20"/>
                </a:solidFill>
              </a:rPr>
              <a:t>✓  Galería de figuras — todas las visualizaciones
del estudio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1023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5E20"/>
                </a:solidFill>
              </a:rPr>
              <a:t>✓  Estado de artefactos — verificación
del pipeline en sidebar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